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101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593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" name="Text 1"/>
          <p:cNvSpPr/>
          <p:nvPr/>
        </p:nvSpPr>
        <p:spPr>
          <a:xfrm>
            <a:off x="1005840" y="1371600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โปรเจกต์จบการศึกษา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05840" y="2834640"/>
            <a:ext cx="9509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ระบบติดตามประสิทธิภาพการผลิต อุปกรณ์ และการบำรุงรักษา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สำหรับโรงงานอุตสาหกรรมการผลิตแบบมีสายการผลิต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05840" y="4160520"/>
            <a:ext cx="29718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7" name="Text 5"/>
          <p:cNvSpPr/>
          <p:nvPr/>
        </p:nvSpPr>
        <p:spPr>
          <a:xfrm>
            <a:off x="1207008" y="431596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+ React 19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07008" y="461772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TypeScript ทั้งหมด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4160520"/>
            <a:ext cx="29718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4453128" y="431596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Supabase + RLS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53128" y="461772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สิทธิ์บังคับที่ฐานข้อมูล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4160520"/>
            <a:ext cx="297180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7699248" y="4315968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37 unit tests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99248" y="461772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+ 13 RLS assertions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57150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ชื่อ - นามสกุล  ·  รหัสนักศึกษา  ·  อาจารย์ที่ปรึกษา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ทำไมต้องมีระบบนี้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50292" cy="402336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1655064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สภาพเดิม — ข้อมูลกระจายเกินกว่าจะตัดสินใจได้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 OEE อยู่ในไฟล์ Excel ของหัวหน้ากะ ต่างแผนกไม่เห็นชุดเดียวกัน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เครื่องจักรหยุดแล้วไม่มีใครรู้ว่าเป็นเพราะอะไร หรือจะเสร็จเมื่อไหร่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ประวัติการซ่อมอยู่ในกระดาษ ค้นย้อนหลังไม่ได้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อะไหล่ขาดตอนงานด่วน เพราะไม่รู้ว่าของอะไรกำลังจะหมด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ไม่มีใครรู้ว่าใครแก้อะไรไปแล้ว ทำให้แก้ข้อมูลชนกัน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2578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2" name="Shape 10"/>
          <p:cNvSpPr/>
          <p:nvPr/>
        </p:nvSpPr>
        <p:spPr>
          <a:xfrm>
            <a:off x="6263640" y="1600200"/>
            <a:ext cx="50292" cy="402336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6519672" y="1655064"/>
            <a:ext cx="4800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สิ่งที่ต้องการ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2011680"/>
            <a:ext cx="47091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เห็นภาพรวม OEE ของทุกสายในหน้าเดียว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บันทึกเหตุหยุดเครื่องพร้อมเหตุผลและผู้รับผิดชอบ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วางแผนงานซ่อมได้ก่อนเครื่องพังจริง (งานตามรอบ)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รู้สถานะอะไหล่ก่อนสั่งซื้อ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ตรวจสอบย้อนหลังได้ว่าใครเปลี่ยนอะไร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บทบาทชัดเจน คนละสิทธิ์กันจริง ไม่ใช่แค่ซ่อนปุ่ม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870448"/>
            <a:ext cx="10881360" cy="475488"/>
          </a:xfrm>
          <a:prstGeom prst="roundRect">
            <a:avLst>
              <a:gd name="adj" fmla="val 9615"/>
            </a:avLst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6" name="Text 14"/>
          <p:cNvSpPr/>
          <p:nvPr/>
        </p:nvSpPr>
        <p:spPr>
          <a:xfrm>
            <a:off x="868680" y="5943600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หัวใจของงาน:  </a:t>
            </a:r>
            <a:r>
              <a:rPr lang="en-US" sz="13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ทุกอย่างต้องคำนวณจากข้อมูลจริงในฐานข้อมูล ไม่ใช่ค่าที่พิมพ์กรอกเอง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ขอบเขต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ระบบนี้ทำอะไรได้บ้าง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E0F2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50292" cy="111556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77824" y="17099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OEE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7824" y="202996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 A/P/Q แยกรายสาย พร้อมกราฟย้อนหลัง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29000" y="1554480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EDE9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2" name="Shape 10"/>
          <p:cNvSpPr/>
          <p:nvPr/>
        </p:nvSpPr>
        <p:spPr>
          <a:xfrm>
            <a:off x="3429000" y="1645920"/>
            <a:ext cx="50292" cy="111556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3666744" y="17099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ทรัพย์สิน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66744" y="202996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ทะเบียนเครื่องจักร สถานะ ประวัติการซ่อม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1554480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6" name="Shape 14"/>
          <p:cNvSpPr/>
          <p:nvPr/>
        </p:nvSpPr>
        <p:spPr>
          <a:xfrm>
            <a:off x="6217920" y="1645920"/>
            <a:ext cx="50292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7" name="Text 15"/>
          <p:cNvSpPr/>
          <p:nvPr/>
        </p:nvSpPr>
        <p:spPr>
          <a:xfrm>
            <a:off x="6455664" y="17099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ใบงานบำรุง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55664" y="202996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งานถูกต้อง งานตามรอบ งานสอบเทียบ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EE2E2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0" name="Shape 18"/>
          <p:cNvSpPr/>
          <p:nvPr/>
        </p:nvSpPr>
        <p:spPr>
          <a:xfrm>
            <a:off x="9006840" y="1645920"/>
            <a:ext cx="50292" cy="1115568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1" name="Text 19"/>
          <p:cNvSpPr/>
          <p:nvPr/>
        </p:nvSpPr>
        <p:spPr>
          <a:xfrm>
            <a:off x="9244584" y="17099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หยุดเครื่อง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244584" y="2029968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บันทึกเหตุ แจ้งเตือน คำนวณ MTTR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0358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4" name="Shape 22"/>
          <p:cNvSpPr/>
          <p:nvPr/>
        </p:nvSpPr>
        <p:spPr>
          <a:xfrm>
            <a:off x="640080" y="3127248"/>
            <a:ext cx="50292" cy="1115568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5" name="Text 23"/>
          <p:cNvSpPr/>
          <p:nvPr/>
        </p:nvSpPr>
        <p:spPr>
          <a:xfrm>
            <a:off x="877824" y="319125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คลังอะไหล่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" y="3511296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จอง เบิก กันของติดลบ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29000" y="30358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E0F2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8" name="Shape 26"/>
          <p:cNvSpPr/>
          <p:nvPr/>
        </p:nvSpPr>
        <p:spPr>
          <a:xfrm>
            <a:off x="3429000" y="3127248"/>
            <a:ext cx="50292" cy="111556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9" name="Text 27"/>
          <p:cNvSpPr/>
          <p:nvPr/>
        </p:nvSpPr>
        <p:spPr>
          <a:xfrm>
            <a:off x="3666744" y="319125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รายงาน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66744" y="3511296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CSV ได้ทุกหน้า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17920" y="30358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EDE9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32" name="Shape 30"/>
          <p:cNvSpPr/>
          <p:nvPr/>
        </p:nvSpPr>
        <p:spPr>
          <a:xfrm>
            <a:off x="6217920" y="3127248"/>
            <a:ext cx="50292" cy="111556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3" name="Text 31"/>
          <p:cNvSpPr/>
          <p:nvPr/>
        </p:nvSpPr>
        <p:spPr>
          <a:xfrm>
            <a:off x="6455664" y="319125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บันทึกการกระทำ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55664" y="3511296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ประวัติทุกครั้งที่มีการแก้ไข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06840" y="30358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0F172A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36" name="Shape 34"/>
          <p:cNvSpPr/>
          <p:nvPr/>
        </p:nvSpPr>
        <p:spPr>
          <a:xfrm>
            <a:off x="9006840" y="3127248"/>
            <a:ext cx="50292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7" name="Text 35"/>
          <p:cNvSpPr/>
          <p:nvPr/>
        </p:nvSpPr>
        <p:spPr>
          <a:xfrm>
            <a:off x="9244584" y="3191256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ข้อมูลตัวอย่าง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244584" y="3511296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โรงงาน · 3 สาย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เครื่อง · 8 ใบงาน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อะไหล่ · 30 รอบการผลิต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4553712"/>
            <a:ext cx="108813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40" name="Shape 38"/>
          <p:cNvSpPr/>
          <p:nvPr/>
        </p:nvSpPr>
        <p:spPr>
          <a:xfrm>
            <a:off x="640080" y="4645152"/>
            <a:ext cx="50292" cy="1143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41" name="Text 39"/>
          <p:cNvSpPr/>
          <p:nvPr/>
        </p:nvSpPr>
        <p:spPr>
          <a:xfrm>
            <a:off x="896112" y="4700016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สิ่งที่ระบบนี้ไม่ทำ — บอกไว้ตรง ๆ ไม่งอน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14400" y="498348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ไม่ได้อ่านสัญญาณจาก PLC จริง เวลาหยุดเครื่องยังให้คนกรอกเอง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ยังไม่ต่อกับ ERP หรือระบบสั่งซื้ออะไหล่ของโรงงาน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ไม่ได้ทำหน้าจัดการผู้ใช้ (เพิ่มผู้ใช้ต้องเขียน SQL เอง)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หน้าจอหลัก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— เห็นภาพรวมทั้งโรงงานในหน้าเดียว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900" dirty="0"/>
          </a:p>
        </p:txBody>
      </p:sp>
      <p:pic>
        <p:nvPicPr>
          <p:cNvPr id="7" name="Image 0" descr="C:\Users\mpalg\OneDrive\เดสก์ท็อป\pic\PLC-Control-Tower\deliverables\Slides\assets\02-dashboard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7452360" cy="419709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481328"/>
            <a:ext cx="7452360" cy="4197096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Shape 6"/>
          <p:cNvSpPr/>
          <p:nvPr/>
        </p:nvSpPr>
        <p:spPr>
          <a:xfrm>
            <a:off x="8275320" y="1481328"/>
            <a:ext cx="324612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0" name="Shape 7"/>
          <p:cNvSpPr/>
          <p:nvPr/>
        </p:nvSpPr>
        <p:spPr>
          <a:xfrm>
            <a:off x="8275320" y="1572768"/>
            <a:ext cx="50292" cy="1828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1" name="Text 8"/>
          <p:cNvSpPr/>
          <p:nvPr/>
        </p:nvSpPr>
        <p:spPr>
          <a:xfrm>
            <a:off x="8531352" y="1627632"/>
            <a:ext cx="2788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OEE รวมทุกสาย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03920" y="1874520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57.6%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8503920" y="25603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ของดี 47,259 ชิ้น  ·  ของเสีย 656 ชิ้น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503920" y="306324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Availability 58.4%   ·   Quality 98.6%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275320" y="3657600"/>
            <a:ext cx="3246120" cy="2020824"/>
          </a:xfrm>
          <a:prstGeom prst="roundRect">
            <a:avLst>
              <a:gd name="adj" fmla="val 27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6" name="Shape 13"/>
          <p:cNvSpPr/>
          <p:nvPr/>
        </p:nvSpPr>
        <p:spPr>
          <a:xfrm>
            <a:off x="8275320" y="3749040"/>
            <a:ext cx="50292" cy="1837944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7" name="Text 14"/>
          <p:cNvSpPr/>
          <p:nvPr/>
        </p:nvSpPr>
        <p:spPr>
          <a:xfrm>
            <a:off x="8531352" y="3803904"/>
            <a:ext cx="2788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จุดที่ระบบชี้ให้เห็น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503920" y="406908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เหตุหยุดเครื่องที่ยังไม่ปิด รวม 253 นาที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อะไหล่เหลือต่ำกว่าจุดสั่งซื้อ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MTTR 284 นาที  ·  งานตามรอบทำได้ 50%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57790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ภาพหน้าจอจริงจากระบบ ผู้ใช้บทบาทผู้ดูแล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หัวใจของระบบ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OEE คำนวณอย่างไร และได้เท่าไหร่จริง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481328"/>
            <a:ext cx="3520440" cy="1572768"/>
          </a:xfrm>
          <a:prstGeom prst="roundRect">
            <a:avLst>
              <a:gd name="adj" fmla="val 3488"/>
            </a:avLst>
          </a:prstGeom>
          <a:solidFill>
            <a:srgbClr val="E0F2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572768"/>
            <a:ext cx="50292" cy="138988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162763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Availability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9385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เวลาที่เครื่องเดินจริง ÷ เวลาที่วางแผนไว้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58.4%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325112" y="1481328"/>
            <a:ext cx="3520440" cy="1572768"/>
          </a:xfrm>
          <a:prstGeom prst="roundRect">
            <a:avLst>
              <a:gd name="adj" fmla="val 3488"/>
            </a:avLst>
          </a:prstGeom>
          <a:solidFill>
            <a:srgbClr val="EDE9FE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3" name="Shape 11"/>
          <p:cNvSpPr/>
          <p:nvPr/>
        </p:nvSpPr>
        <p:spPr>
          <a:xfrm>
            <a:off x="4325112" y="1572768"/>
            <a:ext cx="50292" cy="138988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4581144" y="162763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81144" y="19385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ผลผลิตตามทฤษฎี ÷ ผลผลิตจริง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81144" y="2395728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100.0%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8010144" y="1481328"/>
            <a:ext cx="3520440" cy="1572768"/>
          </a:xfrm>
          <a:prstGeom prst="roundRect">
            <a:avLst>
              <a:gd name="adj" fmla="val 3488"/>
            </a:avLst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8" name="Shape 16"/>
          <p:cNvSpPr/>
          <p:nvPr/>
        </p:nvSpPr>
        <p:spPr>
          <a:xfrm>
            <a:off x="8010144" y="1572768"/>
            <a:ext cx="50292" cy="1389888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Quality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66176" y="19385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ของดี ÷ ของทั้งหมด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66176" y="2395728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98.6%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640080" y="3218688"/>
            <a:ext cx="10881360" cy="457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3" name="Text 21"/>
          <p:cNvSpPr/>
          <p:nvPr/>
        </p:nvSpPr>
        <p:spPr>
          <a:xfrm>
            <a:off x="868680" y="329184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OEE = Availability × Performance × Quality = </a:t>
            </a:r>
            <a:r>
              <a:rPr lang="en-US" sz="15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57.6%</a:t>
            </a:r>
            <a:r>
              <a:rPr lang="en-US" sz="12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ทั้งระบบ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58768"/>
          <a:ext cx="10881360" cy="164592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สายการผลิต</a:t>
                      </a:r>
                      <a:endParaRPr lang="en-US" sz="115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Availability</a:t>
                      </a:r>
                      <a:endParaRPr lang="en-US" sz="115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Quality</a:t>
                      </a:r>
                      <a:endParaRPr lang="en-US" sz="115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OEE</a:t>
                      </a:r>
                      <a:endParaRPr lang="en-US" sz="115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เวลาที่หยุด</a:t>
                      </a:r>
                      <a:endParaRPr lang="en-US" sz="115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LN-A สายวางลูกษา SMT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57.3%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99%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91C1C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56.7%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42.7%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LN-B สายเติมวงจรและทดสอบ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74.1%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98.7%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15803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73.1%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25.9%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LN-C สายฉีดขึ้นรูปพลาสติก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56%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98.4%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91C1C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55.1%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44%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รวม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58.4%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98.6%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B91C1C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57.6%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41.6%</a:t>
                      </a:r>
                      <a:endParaRPr lang="en-US" sz="12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640080" y="5989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ตัวเลขทั้งหมดมาจากการรันคำสวณจริงบนชุดข้อมูลตัวอย่าง ไม่ได้เขียนขึ้นมือ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กระบวนการ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จัดการเหตุหยุดเครื่อง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900" dirty="0"/>
          </a:p>
        </p:txBody>
      </p:sp>
      <p:pic>
        <p:nvPicPr>
          <p:cNvPr id="7" name="Image 0" descr="C:\Users\mpalg\OneDrive\เดสก์ท็อป\pic\PLC-Control-Tower\deliverables\Slides\assets\08-down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6766560" cy="38039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481328"/>
            <a:ext cx="6766560" cy="3803904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Shape 6"/>
          <p:cNvSpPr/>
          <p:nvPr/>
        </p:nvSpPr>
        <p:spPr>
          <a:xfrm>
            <a:off x="7635240" y="1481328"/>
            <a:ext cx="38862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0" name="Shape 7"/>
          <p:cNvSpPr/>
          <p:nvPr/>
        </p:nvSpPr>
        <p:spPr>
          <a:xfrm>
            <a:off x="7635240" y="1572768"/>
            <a:ext cx="50292" cy="164592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1" name="Text 8"/>
          <p:cNvSpPr/>
          <p:nvPr/>
        </p:nvSpPr>
        <p:spPr>
          <a:xfrm>
            <a:off x="7891272" y="1627632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สถานะของเหตุหยุดเครื่อง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863840" y="1938528"/>
            <a:ext cx="1207008" cy="310896"/>
          </a:xfrm>
          <a:prstGeom prst="roundRect">
            <a:avLst>
              <a:gd name="adj" fmla="val 11765"/>
            </a:avLst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3" name="Text 10"/>
          <p:cNvSpPr/>
          <p:nvPr/>
        </p:nvSpPr>
        <p:spPr>
          <a:xfrm>
            <a:off x="7863840" y="1965960"/>
            <a:ext cx="1207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162288" y="19568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พบเหตุ เครื่องหยุด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863840" y="2359152"/>
            <a:ext cx="1207008" cy="310896"/>
          </a:xfrm>
          <a:prstGeom prst="roundRect">
            <a:avLst>
              <a:gd name="adj" fmla="val 11765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6" name="Text 13"/>
          <p:cNvSpPr/>
          <p:nvPr/>
        </p:nvSpPr>
        <p:spPr>
          <a:xfrm>
            <a:off x="7863840" y="2386584"/>
            <a:ext cx="1207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acknowledged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162288" y="2377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มีคนรับทราบแล้ว แต่ยังไม่กลับมาทำงาน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863840" y="2779776"/>
            <a:ext cx="1207008" cy="310896"/>
          </a:xfrm>
          <a:prstGeom prst="roundRect">
            <a:avLst>
              <a:gd name="adj" fmla="val 11765"/>
            </a:avLst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9" name="Text 16"/>
          <p:cNvSpPr/>
          <p:nvPr/>
        </p:nvSpPr>
        <p:spPr>
          <a:xfrm>
            <a:off x="7863840" y="2807208"/>
            <a:ext cx="1207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mitigated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162288" y="27980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แก้แล้ว เครื่องกลับมาทำงาน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35240" y="3456432"/>
            <a:ext cx="38862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2" name="Shape 19"/>
          <p:cNvSpPr/>
          <p:nvPr/>
        </p:nvSpPr>
        <p:spPr>
          <a:xfrm>
            <a:off x="7635240" y="3547872"/>
            <a:ext cx="50292" cy="1645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3" name="Text 20"/>
          <p:cNvSpPr/>
          <p:nvPr/>
        </p:nvSpPr>
        <p:spPr>
          <a:xfrm>
            <a:off x="7891272" y="3602736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ตัวเลขจากข้อมูลจริง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882128" y="3877056"/>
            <a:ext cx="3429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 เหตุ 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ยังไม่มีใครรับทราบ   </a:t>
            </a:r>
            <a:r>
              <a:rPr lang="en-US" sz="12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เหตุ 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รับทราบแล้ว
</a:t>
            </a: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เหตุ 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ปิดเรียบร้อย  ·  รวม </a:t>
            </a:r>
            <a:r>
              <a:rPr lang="en-US" sz="12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253 นาที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882128" y="482803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MTTR เฉลี่ย 284 นาที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0080" y="548640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ระบบไม่ปิดเหตุให้อัตโนมัติ — ต้องมีคนยืนยันว่าเครื่องกลับมาทำงานจริง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กระบวนการ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อะไหล่ — กันงานค้างเพราะของขาด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Image 0" descr="C:\Users\mpalg\OneDrive\เดสก์ท็อป\pic\PLC-Control-Tower\deliverables\Slides\assets\09-p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6766560" cy="38039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481328"/>
            <a:ext cx="6766560" cy="3803904"/>
          </a:xfrm>
          <a:prstGeom prst="rect">
            <a:avLst/>
          </a:prstGeom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Shape 6"/>
          <p:cNvSpPr/>
          <p:nvPr/>
        </p:nvSpPr>
        <p:spPr>
          <a:xfrm>
            <a:off x="7635240" y="1481328"/>
            <a:ext cx="3886200" cy="2084832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0" name="Shape 7"/>
          <p:cNvSpPr/>
          <p:nvPr/>
        </p:nvSpPr>
        <p:spPr>
          <a:xfrm>
            <a:off x="7635240" y="1572768"/>
            <a:ext cx="50292" cy="1901952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1" name="Text 8"/>
          <p:cNvSpPr/>
          <p:nvPr/>
        </p:nvSpPr>
        <p:spPr>
          <a:xfrm>
            <a:off x="7891272" y="1627632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กฎที่ระบบบังคับ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82128" y="1874520"/>
            <a:ext cx="3429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ของที่จองไว้แล้วห้ามเบิกเกิน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ห้ามเบิกจนเหลือน้อยกว่าจุดสั่งซื้อ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เบิกไม่ได้ถ้าของหมด — ต้องสั่งซื้อก่อน</a:t>
            </a:r>
            <a:endParaRPr lang="en-US" sz="11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ทุกครั้งที่เบิก ต้องผูกกับใบงาน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35240" y="3712464"/>
            <a:ext cx="388620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4" name="Shape 11"/>
          <p:cNvSpPr/>
          <p:nvPr/>
        </p:nvSpPr>
        <p:spPr>
          <a:xfrm>
            <a:off x="7635240" y="3803904"/>
            <a:ext cx="50292" cy="138988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5" name="Text 12"/>
          <p:cNvSpPr/>
          <p:nvPr/>
        </p:nvSpPr>
        <p:spPr>
          <a:xfrm>
            <a:off x="7891272" y="3858768"/>
            <a:ext cx="3429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สถานะคลัง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882128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ต่ำกว่าจุดสั่งซื้อ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418320" y="41330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/ 8 รายการ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882128" y="46451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มูลค่าของคงคลัง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418320" y="464515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102,320 บาท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548640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ใบงาน 4 ใบรอซ่อม  ·  งานตามรอบ 3 ใบ  ·  งานสอบเทียบ 1 ใบ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หน้าจอทั้งหมด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ระบบมี 12 หน้า ผ่านการทดสอบทุกหน้า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900" dirty="0"/>
          </a:p>
        </p:txBody>
      </p:sp>
      <p:pic>
        <p:nvPicPr>
          <p:cNvPr id="7" name="Image 0" descr="C:\Users\mpalg\OneDrive\เดสก์ท็อป\pic\PLC-Control-Tower\deliverables\Slides\assets\01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2615184" cy="106870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481328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6"/>
          <p:cNvSpPr/>
          <p:nvPr/>
        </p:nvSpPr>
        <p:spPr>
          <a:xfrm>
            <a:off x="640080" y="317068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หน้าเข้าสู่ระบบ</a:t>
            </a:r>
            <a:endParaRPr lang="en-US" sz="1000" dirty="0"/>
          </a:p>
        </p:txBody>
      </p:sp>
      <p:pic>
        <p:nvPicPr>
          <p:cNvPr id="10" name="Image 1" descr="C:\Users\mpalg\OneDrive\เดสก์ท็อป\pic\PLC-Control-Tower\deliverables\Slides\assets\04-ass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481328"/>
            <a:ext cx="2615184" cy="106870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29000" y="1481328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8"/>
          <p:cNvSpPr/>
          <p:nvPr/>
        </p:nvSpPr>
        <p:spPr>
          <a:xfrm>
            <a:off x="3429000" y="317068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ทะเบียนเครื่องจักร</a:t>
            </a:r>
            <a:endParaRPr lang="en-US" sz="1000" dirty="0"/>
          </a:p>
        </p:txBody>
      </p:sp>
      <p:pic>
        <p:nvPicPr>
          <p:cNvPr id="13" name="Image 2" descr="C:\Users\mpalg\OneDrive\เดสก์ท็อป\pic\PLC-Control-Tower\deliverables\Slides\assets\05-asset-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481328"/>
            <a:ext cx="2615184" cy="1068705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217920" y="1481328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0"/>
          <p:cNvSpPr/>
          <p:nvPr/>
        </p:nvSpPr>
        <p:spPr>
          <a:xfrm>
            <a:off x="6217920" y="317068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รายละเอียดเครื่อง</a:t>
            </a:r>
            <a:endParaRPr lang="en-US" sz="1000" dirty="0"/>
          </a:p>
        </p:txBody>
      </p:sp>
      <p:pic>
        <p:nvPicPr>
          <p:cNvPr id="16" name="Image 3" descr="C:\Users\mpalg\OneDrive\เดสก์ท็อป\pic\PLC-Control-Tower\deliverables\Slides\assets\06-work-or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0" y="1481328"/>
            <a:ext cx="2615184" cy="1068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9006840" y="1481328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2"/>
          <p:cNvSpPr/>
          <p:nvPr/>
        </p:nvSpPr>
        <p:spPr>
          <a:xfrm>
            <a:off x="9006840" y="317068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ใบงานบำรุง</a:t>
            </a:r>
            <a:endParaRPr lang="en-US" sz="1000" dirty="0"/>
          </a:p>
        </p:txBody>
      </p:sp>
      <p:pic>
        <p:nvPicPr>
          <p:cNvPr id="19" name="Image 4" descr="C:\Users\mpalg\OneDrive\เดสก์ท็อป\pic\PLC-Control-Tower\deliverables\Slides\assets\07-work-order-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364992"/>
            <a:ext cx="2615184" cy="106870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40080" y="3364992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1" name="Text 14"/>
          <p:cNvSpPr/>
          <p:nvPr/>
        </p:nvSpPr>
        <p:spPr>
          <a:xfrm>
            <a:off x="640080" y="505434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รายละเอียดใบงาน</a:t>
            </a:r>
            <a:endParaRPr lang="en-US" sz="1000" dirty="0"/>
          </a:p>
        </p:txBody>
      </p:sp>
      <p:pic>
        <p:nvPicPr>
          <p:cNvPr id="22" name="Image 5" descr="C:\Users\mpalg\OneDrive\เดสก์ท็อป\pic\PLC-Control-Tower\deliverables\Slides\assets\10-repor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364992"/>
            <a:ext cx="2615184" cy="1068705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3429000" y="3364992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4" name="Text 16"/>
          <p:cNvSpPr/>
          <p:nvPr/>
        </p:nvSpPr>
        <p:spPr>
          <a:xfrm>
            <a:off x="3429000" y="505434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รายงานและส่งออก CSV</a:t>
            </a:r>
            <a:endParaRPr lang="en-US" sz="1000" dirty="0"/>
          </a:p>
        </p:txBody>
      </p:sp>
      <p:pic>
        <p:nvPicPr>
          <p:cNvPr id="25" name="Image 6" descr="C:\Users\mpalg\OneDrive\เดสก์ท็อป\pic\PLC-Control-Tower\deliverables\Slides\assets\11-activ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3364992"/>
            <a:ext cx="2615184" cy="1068705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6217920" y="3364992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7" name="Text 18"/>
          <p:cNvSpPr/>
          <p:nvPr/>
        </p:nvSpPr>
        <p:spPr>
          <a:xfrm>
            <a:off x="6217920" y="505434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ประวัติการแก้ไข</a:t>
            </a:r>
            <a:endParaRPr lang="en-US" sz="1000" dirty="0"/>
          </a:p>
        </p:txBody>
      </p:sp>
      <p:pic>
        <p:nvPicPr>
          <p:cNvPr id="28" name="Image 7" descr="C:\Users\mpalg\OneDrive\เดสก์ท็อป\pic\PLC-Control-Tower\deliverables\Slides\assets\13-work-orders-plann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6840" y="3364992"/>
            <a:ext cx="2615184" cy="1068705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9006840" y="3364992"/>
            <a:ext cx="2615184" cy="1634490"/>
          </a:xfrm>
          <a:prstGeom prst="rect">
            <a:avLst/>
          </a:prstGeom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30" name="Text 20"/>
          <p:cNvSpPr/>
          <p:nvPr/>
        </p:nvSpPr>
        <p:spPr>
          <a:xfrm>
            <a:off x="9006840" y="5054346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มุมมองผู้วางแผน</a:t>
            </a:r>
            <a:endParaRPr lang="en-US" sz="1000" dirty="0"/>
          </a:p>
        </p:txBody>
      </p:sp>
      <p:sp>
        <p:nvSpPr>
          <p:cNvPr id="31" name="Text 21"/>
          <p:cNvSpPr/>
          <p:nvPr/>
        </p:nvSpPr>
        <p:spPr>
          <a:xfrm>
            <a:off x="640080" y="534924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มีอีก: แดชบอร์ดผู้ดูแล · แดชบอร์ดวิศวกร · แดชบอร์ดผู้วางแผน · โหมดมืด · มุมมองมือถือ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การออกแบบ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ข้อมูลเดินทางอย่างไร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508760"/>
            <a:ext cx="6949440" cy="868680"/>
          </a:xfrm>
          <a:prstGeom prst="roundRect">
            <a:avLst>
              <a:gd name="adj" fmla="val 6316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618488"/>
            <a:ext cx="54864" cy="64922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16367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ชั้นแสดงผล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1947672"/>
            <a:ext cx="5852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React + Next.js  ·  12 หน้า  ·  Tailwind + Recharts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2395728"/>
            <a:ext cx="274320" cy="128016"/>
          </a:xfrm>
          <a:prstGeom prst="downArrow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2" name="Shape 10"/>
          <p:cNvSpPr/>
          <p:nvPr/>
        </p:nvSpPr>
        <p:spPr>
          <a:xfrm>
            <a:off x="640080" y="2532888"/>
            <a:ext cx="6949440" cy="868680"/>
          </a:xfrm>
          <a:prstGeom prst="roundRect">
            <a:avLst>
              <a:gd name="adj" fmla="val 6316"/>
            </a:avLst>
          </a:prstGeom>
          <a:solidFill>
            <a:srgbClr val="EDE9FE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Shape 11"/>
          <p:cNvSpPr/>
          <p:nvPr/>
        </p:nvSpPr>
        <p:spPr>
          <a:xfrm>
            <a:off x="640080" y="2642616"/>
            <a:ext cx="54864" cy="649224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896112" y="266090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ชั้นตรรกะ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" y="2971800"/>
            <a:ext cx="5852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สูตร OEE · กติกาเปลี่ยนสถานะ · ตารางสิทธิ์ตามบทบาท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77640" y="3419856"/>
            <a:ext cx="274320" cy="128016"/>
          </a:xfrm>
          <a:prstGeom prst="downArrow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7" name="Shape 15"/>
          <p:cNvSpPr/>
          <p:nvPr/>
        </p:nvSpPr>
        <p:spPr>
          <a:xfrm>
            <a:off x="640080" y="3557016"/>
            <a:ext cx="6949440" cy="868680"/>
          </a:xfrm>
          <a:prstGeom prst="roundRect">
            <a:avLst>
              <a:gd name="adj" fmla="val 6316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Shape 16"/>
          <p:cNvSpPr/>
          <p:nvPr/>
        </p:nvSpPr>
        <p:spPr>
          <a:xfrm>
            <a:off x="640080" y="3666744"/>
            <a:ext cx="54864" cy="649224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9" name="Text 17"/>
          <p:cNvSpPr/>
          <p:nvPr/>
        </p:nvSpPr>
        <p:spPr>
          <a:xfrm>
            <a:off x="896112" y="368503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ชั้นข้อมูล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3995928"/>
            <a:ext cx="5852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Supabase (PostgreSQL)  ·  11 ตาราง  ·  25 สิทธิ์ระดับแถว  ·  15 trigger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1508760"/>
            <a:ext cx="37033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2" name="Shape 20"/>
          <p:cNvSpPr/>
          <p:nvPr/>
        </p:nvSpPr>
        <p:spPr>
          <a:xfrm>
            <a:off x="7818120" y="1600200"/>
            <a:ext cx="50292" cy="1645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3" name="Text 21"/>
          <p:cNvSpPr/>
          <p:nvPr/>
        </p:nvSpPr>
        <p:spPr>
          <a:xfrm>
            <a:off x="8074152" y="1655064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ทำงานได้แม้ไม่มีเซิร์ฟเวอร์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65008" y="1901952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ถ้ายังไม่ได้ต่อฐานข้อมูล ระบบจะใช้ชุดข้อมูลตัวอย่างในเครื่อง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เหมาะกับการสาธิตและทดสอบหน้าจอโดยไม่ต้องตั้งค่าอะไร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8120" y="3483864"/>
            <a:ext cx="370332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6" name="Shape 24"/>
          <p:cNvSpPr/>
          <p:nvPr/>
        </p:nvSpPr>
        <p:spPr>
          <a:xfrm>
            <a:off x="7818120" y="3575304"/>
            <a:ext cx="50292" cy="202996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7" name="Text 25"/>
          <p:cNvSpPr/>
          <p:nvPr/>
        </p:nvSpPr>
        <p:spPr>
          <a:xfrm>
            <a:off x="8074152" y="3630168"/>
            <a:ext cx="3246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การเขียนข้อมูล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65008" y="3877056"/>
            <a:ext cx="3200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b="1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หน้าจออัปเดตทันที ไม่ต้องรอเครือข่าย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ถ้าฐานข้อมูลปฏิเสธ ระบบย้อนกลับหน้าจอให้ตรงเดิม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บันทึกรหัสอุปกรณ์เป็นรหัสธุรกิจ ไม่ใช่ UUID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สิทธิ์บังคับที่ฐานข้อมูล ไม่ใช่แค่ซ่อนปุ่ม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4475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ตัวอย่างที่ทดสอบแล้ว — ผู้ใช้ที่พิสูจน์ตัวตนแล้วแต่ส่งคำขอที่ไม่มีสิทธิ์ ฐานข้อมูลปฏิเสธเอง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20299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2377440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743200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ดูและแก้ข้อมูลทุกอย่าง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3255264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07008" y="325526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จัดการผู้ใช้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" y="37673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อ่านประวัติการแก้ไขทั้งหมด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96112" y="4279392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07008" y="427939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แก้หรือลบประวัติ — ไม่ได้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25112" y="18745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0" name="Text 18"/>
          <p:cNvSpPr/>
          <p:nvPr/>
        </p:nvSpPr>
        <p:spPr>
          <a:xfrm>
            <a:off x="4581144" y="20299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วิศวกร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81144" y="2377440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81144" y="2743200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แก้สถานะเครื่องจักร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81144" y="3255264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325526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เปิดและปิดใบงานซ่อม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81144" y="37673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92040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บันทึกเหตุหยุดเครื่อง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81144" y="4279392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92040" y="427939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เพิ่มหรือแก้ข้อมูลอะไหล่ — ไม่ได้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10144" y="187452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31" name="Text 29"/>
          <p:cNvSpPr/>
          <p:nvPr/>
        </p:nvSpPr>
        <p:spPr>
          <a:xfrm>
            <a:off x="8266176" y="20299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ผู้วางแผน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266176" y="2377440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66176" y="2743200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577072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ดูข้อมูลได้ทั้งหมด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66176" y="3255264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577072" y="325526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วางแผนงานตามรอบ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66176" y="37673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✕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577072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เปิดงานซ่อมฉุกเฉิน — ไม่ได้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266176" y="4279392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577072" y="427939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แก้เครื่องจักร — ไม่ได้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42" name="Text 40"/>
          <p:cNvSpPr/>
          <p:nvPr/>
        </p:nvSpPr>
        <p:spPr>
          <a:xfrm>
            <a:off x="896112" y="5413248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เจาะลึก:  </a:t>
            </a:r>
            <a:r>
              <a:rPr lang="en-US" sz="120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ผู้ใช้ที่ยังไม่ล็อกอินจะได้สิทธิ์เท่าผู้วางแผน ไม่ใช่สิทธิ์สูงสุด — ถ้าตั้งค่าผิดจะเป็นการปิดทางเข้า ไม่ใช่เปิดกว้าง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สิ่งที่พบระหว่างทำ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บั๊กที่ 1 — โค้ดที่อ่านผ่าน แต่รันไม่ผ่าน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44752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ทั้งโปรเจกต์เขียนเสร็จ ทุกเทสต์ผ่าน แต่พอเอา SQL ไปรันกับฐานข้อมูลจริงกลับพังตั้งแต่บรรทัดแรก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E293B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50292" cy="210312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0" name="Text 8"/>
          <p:cNvSpPr/>
          <p:nvPr/>
        </p:nvSpPr>
        <p:spPr>
          <a:xfrm>
            <a:off x="896112" y="2020824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ก่อนแก้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33172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ฟังก์ชันอยู่ตรงนี้
</a:t>
            </a: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function authz.current_role()
returns app_role as $$
</a:t>
            </a: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role from public.app_users
  where user_id = auth.uid();
</a:t>
            </a: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$$ language sql;
</a:t>
            </a:r>
            <a:r>
              <a:rPr lang="en-US" sz="9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แต่ตาราง app_users ถูกสร้างทีหลัง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E293B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50292" cy="210312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6428232" y="2020824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หลังแก้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28232" y="233172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สร้างตารางก่อน
</a:t>
            </a: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public.app_users (...);
</a:t>
            </a: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แล้วค่อยสร้างฟังก์ชัน
</a:t>
            </a: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function authz.current_role()
returns app_role as $$
  select role from public.app_users
  where user_id = auth.uid();
$$ language sql;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8813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50292" cy="1417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8" name="Text 16"/>
          <p:cNvSpPr/>
          <p:nvPr/>
        </p:nvSpPr>
        <p:spPr>
          <a:xfrm>
            <a:off x="896112" y="4489704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บอกได้ตรง ๆ ว่าเป็นบั๊กอะไร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PostgreSQL ตรวจการอ้างถึงตารางข้างในฟังก์ชันตอนสร้าง ไม่ใช่ตอนเรียกใช้ การอ่านโค้ดด้วยตาจะเห็นว่า “เฮ้ย อ้างถึงตารางที่ยังไม่มี” แต่ถ้าไม่เคยรันจริงก็จะไม่มีวันรู้ว่ามันพัง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6112" y="5440680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วิธีแก้ที่ถาวร: ให้เขียน schema ให้รันซ้ำได้ และมีชุดทดสอบที่รัน SQL จริงทุกครั้ง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สิ่งที่พบระหว่างทำ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บั๊กที่ 2 และ 3 — จุดที่อ่านโค้ดไม่ออก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481328"/>
            <a:ext cx="53492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572768"/>
            <a:ext cx="50292" cy="2057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1627632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บั๊กที่ 2 — ตัวพิมพ์ใหญ่เล็กไม่ตรงกัน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19202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trigger ได้ค่า </a:t>
            </a:r>
            <a:r>
              <a:rPr lang="en-US" sz="1200" b="1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(ตัวพิมพ์ใหญ่)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แต่ชนิดข้อมูล enum เก็บเป็น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(ตัวพิมพ์เล็ก)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" y="2743200"/>
            <a:ext cx="4846320" cy="384048"/>
          </a:xfrm>
          <a:prstGeom prst="roundRect">
            <a:avLst>
              <a:gd name="adj" fmla="val 9524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2" name="Text 10"/>
          <p:cNvSpPr/>
          <p:nvPr/>
        </p:nvSpPr>
        <p:spPr>
          <a:xfrm>
            <a:off x="1024128" y="2816352"/>
            <a:ext cx="4617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ก่อน:  </a:t>
            </a: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tg_op::trail_action</a:t>
            </a:r>
            <a:r>
              <a:rPr lang="en-US" sz="10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     แก้:  </a:t>
            </a: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lower(tg_op)::trail_action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81328"/>
            <a:ext cx="53492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4" name="Shape 12"/>
          <p:cNvSpPr/>
          <p:nvPr/>
        </p:nvSpPr>
        <p:spPr>
          <a:xfrm>
            <a:off x="6172200" y="1572768"/>
            <a:ext cx="50292" cy="20574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5" name="Text 13"/>
          <p:cNvSpPr/>
          <p:nvPr/>
        </p:nvSpPr>
        <p:spPr>
          <a:xfrm>
            <a:off x="6428232" y="1627632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บั๊กที่ 3 — ข้อมูลกับกฎทางธุรกิจขัดกันเอง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28232" y="1920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กฎเดิม: ถ้ายังไม่ปิดเหตุ ต้องมีเวลาสิ้นสุด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แต่ข้อมูลจริงมีเหตุที่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“รับทราบแล้ว เครื่องยังไม่กลับมา”</a:t>
            </a: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ซึ่งยังไม่จบจริง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28232" y="2743200"/>
            <a:ext cx="484632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8" name="Text 16"/>
          <p:cNvSpPr/>
          <p:nvPr/>
        </p:nvSpPr>
        <p:spPr>
          <a:xfrm>
            <a:off x="6556248" y="2834640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แก้โดยบังคับเวลาสิ้นสุดเฉพาะสถานะที่เครื่องกลับมาทำงานแล้วเท่านั้น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913632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0F172A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0" name="Shape 18"/>
          <p:cNvSpPr/>
          <p:nvPr/>
        </p:nvSpPr>
        <p:spPr>
          <a:xfrm>
            <a:off x="640080" y="4005072"/>
            <a:ext cx="50292" cy="1828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1" name="Text 19"/>
          <p:cNvSpPr/>
          <p:nvPr/>
        </p:nvSpPr>
        <p:spPr>
          <a:xfrm>
            <a:off x="896112" y="4059936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บั๊กที่ 3 สำคัญที่สุด เพราะมันไม่ใช่บั๊กทางเทคนิค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43434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ตัวไหนผิด — SQL หรือข้อมูล — ขึ้นอยู่กับความหมายทางธุรกิจ ไม่ใช่ไวยากรณ์ ถ้าผมเดาเองแล้วแก้ผิดฝั่ง ระบบจะทำงานผิดแบบเงียบ ๆ ไม่มี error ให้เห็น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6112" y="49834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ผลที่ได้: ตอนนี้มีการทดสอบอัตโนมัติที่ยกคอนเทนเนอร์ฐานข้อมูลจริงขึ้นมารันทุกครั้ง บั๊กแบบนี้จะไม่หลุดออกไปได้อีก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การตรวจสอบ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ทดสอบอะไรไปบ้าง และผ่านหมดหรือยัง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5361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8" name="Text 6"/>
          <p:cNvSpPr/>
          <p:nvPr/>
        </p:nvSpPr>
        <p:spPr>
          <a:xfrm>
            <a:off x="822960" y="1645920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6733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ตรวจชนิดข้อมูล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23360" y="16642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ผ่าน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6916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 error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15361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3" name="Text 11"/>
          <p:cNvSpPr/>
          <p:nvPr/>
        </p:nvSpPr>
        <p:spPr>
          <a:xfrm>
            <a:off x="6355080" y="1645920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75704" y="16733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ตรวจกฎการเขียนโค้ด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55480" y="16642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ผ่าน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0" y="1691640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 warning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" y="21945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6"/>
          <p:cNvSpPr/>
          <p:nvPr/>
        </p:nvSpPr>
        <p:spPr>
          <a:xfrm>
            <a:off x="822960" y="2304288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ทดสอบสูตรและกติกา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0" y="23225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37 / 37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235000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หน่วยทดสอบ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72200" y="21945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3" name="Text 21"/>
          <p:cNvSpPr/>
          <p:nvPr/>
        </p:nvSpPr>
        <p:spPr>
          <a:xfrm>
            <a:off x="6355080" y="2304288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75704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สร้างไฟล์จริง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55480" y="23225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ผ่าน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0" y="2350008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 หน้า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" y="285292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29900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 SQL กับฐานข้อมูลจริง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23360" y="29809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ผ่าน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83480" y="300837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PostgreSQL 16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285292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33" name="Text 31"/>
          <p:cNvSpPr/>
          <p:nvPr/>
        </p:nvSpPr>
        <p:spPr>
          <a:xfrm>
            <a:off x="6355080" y="2962656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75704" y="299008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ทดสอบสิทธิ์ระดับแถว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555480" y="29809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 / 13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515600" y="3008376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RLS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40080" y="351129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38" name="Text 36"/>
          <p:cNvSpPr/>
          <p:nvPr/>
        </p:nvSpPr>
        <p:spPr>
          <a:xfrm>
            <a:off x="822960" y="3621024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—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3648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รันกับ Supabase จริง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23360" y="36393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ยังไม่ได้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983480" y="366674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รอการเชื่อมต่อ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72200" y="351129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FEF3C7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43" name="Text 41"/>
          <p:cNvSpPr/>
          <p:nvPr/>
        </p:nvSpPr>
        <p:spPr>
          <a:xfrm>
            <a:off x="6355080" y="3621024"/>
            <a:ext cx="320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—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775704" y="3648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ทดสอบผู้ใช้หลายคนพร้อมกัน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555480" y="36393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ยังไม่ได้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515600" y="3666744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ต้องมีคนจริง 2 คน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080" y="4343400"/>
            <a:ext cx="10881360" cy="1554480"/>
          </a:xfrm>
          <a:prstGeom prst="roundRect">
            <a:avLst>
              <a:gd name="adj" fmla="val 352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48" name="Text 46"/>
          <p:cNvSpPr/>
          <p:nvPr/>
        </p:nvSpPr>
        <p:spPr>
          <a:xfrm>
            <a:off x="896112" y="45262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คำสั่งเดียวที่ยืนยันได้ทั้งหมด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96112" y="484632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db:test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96112" y="5285232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ยกฐานข้อมูลจริงขึ้นมาใหม่ทุกครั้ง ใส่ข้อมูลตัวอย่าง แล้วทดสอบสิทธิ์ทีละบทบาท ใช้เวลาไม่ถึงหนึ่งนาที ปิดท้ายด้วยการลบคอนเทนเนอร์ทิ้ง ไม่มีอะไรค้างในเครื่อง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ความซื่อสัตย์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สิ่งที่ยังทำไม่ได้ และจะทำต่ออย่างไร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6291072"/>
            <a:ext cx="10911535" cy="10973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Production Control Tower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2975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536192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8" name="Shape 6"/>
          <p:cNvSpPr/>
          <p:nvPr/>
        </p:nvSpPr>
        <p:spPr>
          <a:xfrm>
            <a:off x="640080" y="1627632"/>
            <a:ext cx="50292" cy="1207008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896112" y="1664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ยังไม่ได้ต่อกับ Supabase จริง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1956816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ทดสอบกับฐานข้อมูลจริงแล้ว แต่ยังใช้ตัวจำลองแทนส่วนที่ Supabase เพิ่มเข้ามา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25603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ต่อโปรเจกต์จริงแล้วรันซ้ำ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36192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3" name="Shape 11"/>
          <p:cNvSpPr/>
          <p:nvPr/>
        </p:nvSpPr>
        <p:spPr>
          <a:xfrm>
            <a:off x="6172200" y="1627632"/>
            <a:ext cx="50292" cy="12070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4" name="Text 12"/>
          <p:cNvSpPr/>
          <p:nvPr/>
        </p:nvSpPr>
        <p:spPr>
          <a:xfrm>
            <a:off x="6428232" y="1664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ยังไม่ได้ทดสอบหลายคนพร้อมกัน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28232" y="1956816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ระบบเขียนแบบเร็วที่สุดแล้วย้อนกลับเมื่อพัง ถ้าสองคนแก้ข้อมูลเดียวกัน คนหลังจะทับคนแรก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28232" y="25603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ต้องทดสอบกับผู้ใช้จริง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72384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18" name="Shape 16"/>
          <p:cNvSpPr/>
          <p:nvPr/>
        </p:nvSpPr>
        <p:spPr>
          <a:xfrm>
            <a:off x="640080" y="3163824"/>
            <a:ext cx="50292" cy="120700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19" name="Text 17"/>
          <p:cNvSpPr/>
          <p:nvPr/>
        </p:nvSpPr>
        <p:spPr>
          <a:xfrm>
            <a:off x="896112" y="3200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เวลายังกรอกเอง ไม่ได้มาจาก PLC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6112" y="349300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ยังไม่ได้ต่อสัญญาณจริงผ่าน Modbus หรือ OPC UA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409651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369A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ต่อกับ PLC เมื่อมีอุปกรณ์จริง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3072384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3" name="Shape 21"/>
          <p:cNvSpPr/>
          <p:nvPr/>
        </p:nvSpPr>
        <p:spPr>
          <a:xfrm>
            <a:off x="6172200" y="3163824"/>
            <a:ext cx="50292" cy="120700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4" name="Text 22"/>
          <p:cNvSpPr/>
          <p:nvPr/>
        </p:nvSpPr>
        <p:spPr>
          <a:xfrm>
            <a:off x="6428232" y="3200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เขียนข้อมูลเป็นรายคำสั่ง ไม่มีธุรกรรม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28232" y="3493008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ถ้าฐานข้อมูลปฏิเสธบางแถว ของที่เขียนไปแล้วจะไม่ถูกย้อนกลับ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28232" y="409651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8D9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ใช้ฟังก์ชันที่ห่อธุรกรรมเดียว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608576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50292" cy="1207008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29" name="Text 27"/>
          <p:cNvSpPr/>
          <p:nvPr/>
        </p:nvSpPr>
        <p:spPr>
          <a:xfrm>
            <a:off x="896112" y="4736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รหัสผ่านตัวอย่างเก็บเป็นข้อความธรรมดา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96112" y="50292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เหมาะกับการสาธิตเท่านั้น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96112" y="56327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1C1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ต้องลบตารางนี้ก่อนใช้จริง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72200" y="4608576"/>
            <a:ext cx="53492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94A3B8">
                <a:alpha val="16000"/>
              </a:srgbClr>
            </a:outerShdw>
          </a:effectLst>
        </p:spPr>
        <p:txBody>
          <a:bodyPr/>
          <a:lstStyle/>
          <a:p>
            <a:endParaRPr lang="th-TH"/>
          </a:p>
        </p:txBody>
      </p:sp>
      <p:sp>
        <p:nvSpPr>
          <p:cNvPr id="33" name="Shape 31"/>
          <p:cNvSpPr/>
          <p:nvPr/>
        </p:nvSpPr>
        <p:spPr>
          <a:xfrm>
            <a:off x="6172200" y="4700016"/>
            <a:ext cx="50292" cy="12070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4" name="Text 32"/>
          <p:cNvSpPr/>
          <p:nvPr/>
        </p:nvSpPr>
        <p:spPr>
          <a:xfrm>
            <a:off x="6428232" y="47365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ยังมีช่องโหว่ในไลบรารีที่ Next.js ดึงมา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28232" y="50292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อยู่ในขั้นตอน build ไม่กระทบผู้ใช้ปลายทาง แต่ควรอัปเกรดเมื่อมีเวลา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28232" y="56327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 อัปเกรด Next.js เป็นเวอร์ชันใหม่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th-TH"/>
          </a:p>
        </p:txBody>
      </p:sp>
      <p:sp>
        <p:nvSpPr>
          <p:cNvPr id="3" name="Text 1"/>
          <p:cNvSpPr/>
          <p:nvPr/>
        </p:nvSpPr>
        <p:spPr>
          <a:xfrm>
            <a:off x="960120" y="6400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60120" y="1371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ระบบทำงานได้จริง และตอนนี้ผมรู้แน่ชัดว่าอะไรยังไม่น่าเชื่อถือ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205740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6" name="Text 4"/>
          <p:cNvSpPr/>
          <p:nvPr/>
        </p:nvSpPr>
        <p:spPr>
          <a:xfrm>
            <a:off x="1197864" y="21762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 หน้า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97864" y="248716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OEE เครื่องจักร ใบงาน หยุดเครื่อง อะไหล่ รายงาน และประวัติการแก้ไข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35040" y="205740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9" name="Text 7"/>
          <p:cNvSpPr/>
          <p:nvPr/>
        </p:nvSpPr>
        <p:spPr>
          <a:xfrm>
            <a:off x="6272784" y="21762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72784" y="248716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สิทธิ์บังคับที่ฐานข้อมูลจริง ไม่ใช่แค่ซ่อนปุ่มในหน้าเว็บ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60120" y="3081528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2" name="Text 10"/>
          <p:cNvSpPr/>
          <p:nvPr/>
        </p:nvSpPr>
        <p:spPr>
          <a:xfrm>
            <a:off x="1197864" y="32004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50 เคสทดสอบ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97864" y="351129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ทดสอบหน่วย 37 เคส และทดสอบสิทธิ์ 13 เคสกับฐานข้อมูลจริง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3081528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5" name="Text 13"/>
          <p:cNvSpPr/>
          <p:nvPr/>
        </p:nvSpPr>
        <p:spPr>
          <a:xfrm>
            <a:off x="6272784" y="32004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บั๊กที่แก้แล้ว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72784" y="351129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เจอเพราะรัน SQL จริง ไม่ใช่เพราะอ่านโค้ด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0120" y="4224528"/>
            <a:ext cx="9875520" cy="566928"/>
          </a:xfrm>
          <a:prstGeom prst="roundRect">
            <a:avLst>
              <a:gd name="adj" fmla="val 8065"/>
            </a:avLst>
          </a:prstGeom>
          <a:solidFill>
            <a:srgbClr val="1E293B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18" name="Text 16"/>
          <p:cNvSpPr/>
          <p:nvPr/>
        </p:nvSpPr>
        <p:spPr>
          <a:xfrm>
            <a:off x="1188720" y="4352544"/>
            <a:ext cx="9418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ขั้นต่อไปที่สำคัญที่สุด: เชื่อมฐานข้อมูลจริง แล้วรันชุดทดสอบเดิมซ้ำอีกครั้ง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5120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ขอบคุณที่รับฟังครับ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0120" y="5623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ถามได้ทุกข้อ</a:t>
            </a:r>
            <a:endParaRPr lang="en-US" sz="1200" dirty="0"/>
          </a:p>
        </p:txBody>
      </p:sp>
      <p:pic>
        <p:nvPicPr>
          <p:cNvPr id="21" name="Image 0" descr="C:\Users\mpalg\OneDrive\เดสก์ท็อป\pic\PLC-Control-Tower\deliverables\Slides\assets\14-dashboard-dark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7287768" y="19136"/>
            <a:ext cx="3547872" cy="1998923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086600" y="2057400"/>
            <a:ext cx="3749040" cy="2112264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th-TH"/>
          </a:p>
        </p:txBody>
      </p:sp>
      <p:sp>
        <p:nvSpPr>
          <p:cNvPr id="23" name="Text 20"/>
          <p:cNvSpPr/>
          <p:nvPr/>
        </p:nvSpPr>
        <p:spPr>
          <a:xfrm>
            <a:off x="7086600" y="422452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โหมดมืด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1935</Words>
  <Application>Microsoft Office PowerPoint</Application>
  <PresentationFormat>แบบจอกว้าง</PresentationFormat>
  <Paragraphs>323</Paragraphs>
  <Slides>15</Slides>
  <Notes>15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3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15</vt:i4>
      </vt:variant>
    </vt:vector>
  </HeadingPairs>
  <TitlesOfParts>
    <vt:vector size="19" baseType="lpstr">
      <vt:lpstr>Arial</vt:lpstr>
      <vt:lpstr>Consolas</vt:lpstr>
      <vt:lpstr>Leelawadee UI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Production Control Tower</dc:title>
  <dc:subject>PptxGenJS Presentation</dc:subject>
  <dc:creator>Production Control Tower</dc:creator>
  <cp:lastModifiedBy>วงศ์รพี ศิริวารินทร์</cp:lastModifiedBy>
  <cp:revision>2</cp:revision>
  <dcterms:created xsi:type="dcterms:W3CDTF">2026-09-30T06:44:04Z</dcterms:created>
  <dcterms:modified xsi:type="dcterms:W3CDTF">2026-09-30T06:57:14Z</dcterms:modified>
</cp:coreProperties>
</file>