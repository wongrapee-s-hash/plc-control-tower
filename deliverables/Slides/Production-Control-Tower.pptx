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โปรเจกต์จบการศึกษา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783080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Production Control Tower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005840" y="2834640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ระบบติดตามประสิทธิภาพการผลิต อุปกรณ์ และการบำรุงรักษา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สำหรับโรงงานอุตสาหกรรมการผลิตแบบมีสายการผลิต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05840" y="4160520"/>
            <a:ext cx="2971800" cy="96012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43159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Next.js 15 + React 19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461772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TypeScript ทั้งหมด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4160520"/>
            <a:ext cx="2971800" cy="96012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3128" y="43159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Supabase + RLS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53128" y="461772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สิทธิ์บังคับที่ฐานข้อมูล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0" y="4160520"/>
            <a:ext cx="2971800" cy="96012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99248" y="43159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37 unit tests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99248" y="461772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+ 13 RLS assertions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5715000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ชื่อ - นามสกุล  ·  รหัสนักศึกษา  ·  อาจารย์ที่ปรึกษา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ปัญหา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ทำไมต้องมีระบบนี้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6291072"/>
            <a:ext cx="1091153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Production Control Tower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600200"/>
            <a:ext cx="50292" cy="40233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1655064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สภาพเดิม — ข้อมูลกระจายเกินกว่าจะตัดสินใจได้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 OEE อยู่ในไฟล์ Excel ของหัวหน้ากะ ต่างแผนกไม่เห็นชุดเดียวกัน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เครื่องจักรหยุดแล้วไม่มีใครรู้ว่าเป็นเพราะอะไร หรือจะเสร็จเมื่อไหร่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ประวัติการซ่อมอยู่ในกระดาษ ค้นย้อนหลังไม่ได้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อะไหล่ขาดตอนงานด่วน เพราะไม่รู้ว่าของอะไรกำลังจะหมด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ไม่มีใครรู้ว่าใครแก้อะไรไปแล้ว ทำให้แก้ข้อมูลชนกัน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508760"/>
            <a:ext cx="525780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600200"/>
            <a:ext cx="50292" cy="402336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165506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สิ่งที่ต้องการ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011680"/>
            <a:ext cx="4709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เห็นภาพรวม OEE ของทุกสายในหน้าเดียว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บันทึกเหตุหยุดเครื่องพร้อมเหตุผลและผู้รับผิดชอบ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วางแผนงานซ่อมได้ก่อนเครื่องพังจริง (งานตามรอบ)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รู้สถานะอะไหล่ก่อนสั่งซื้อ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ตรวจสอบย้อนหลังได้ว่าใครเปลี่ยนอะไร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บทบาทชัดเจน คนละสิทธิ์กันจริง ไม่ใช่แค่ซ่อนปุ่ม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870448"/>
            <a:ext cx="10881360" cy="475488"/>
          </a:xfrm>
          <a:prstGeom prst="roundRect">
            <a:avLst>
              <a:gd name="adj" fmla="val 9615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943600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หัวใจของงาน: 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ทุกอย่างต้องคำนวณจากข้อมูลจริงในฐานข้อมูล ไม่ใช่ค่าที่พิมพ์กรอกเอง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ขอบเขต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ระบบนี้ทำอะไรได้บ้าง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6291072"/>
            <a:ext cx="1091153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Production Control Tower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2606040" cy="1298448"/>
          </a:xfrm>
          <a:prstGeom prst="roundRect">
            <a:avLst>
              <a:gd name="adj" fmla="val 4225"/>
            </a:avLst>
          </a:prstGeom>
          <a:solidFill>
            <a:srgbClr val="E0F2FE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645920"/>
            <a:ext cx="50292" cy="111556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17099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แดชบอร์ด OEE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2029968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 A/P/Q แยกรายสาย พร้อมกราฟย้อนหลัง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1554480"/>
            <a:ext cx="2606040" cy="1298448"/>
          </a:xfrm>
          <a:prstGeom prst="roundRect">
            <a:avLst>
              <a:gd name="adj" fmla="val 4225"/>
            </a:avLst>
          </a:prstGeom>
          <a:solidFill>
            <a:srgbClr val="EDE9FE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645920"/>
            <a:ext cx="50292" cy="111556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3" name="Text 11"/>
          <p:cNvSpPr/>
          <p:nvPr/>
        </p:nvSpPr>
        <p:spPr>
          <a:xfrm>
            <a:off x="3666744" y="17099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ทรัพย์สิน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66744" y="2029968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ทะเบียนเครื่องจักร สถานะ ประวัติการซ่อม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606040" cy="1298448"/>
          </a:xfrm>
          <a:prstGeom prst="roundRect">
            <a:avLst>
              <a:gd name="adj" fmla="val 4225"/>
            </a:avLst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645920"/>
            <a:ext cx="50292" cy="11155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455664" y="17099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ใบงานบำรุง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55664" y="2029968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งานถูกต้อง งานตามรอบ งานสอบเทียบ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840" y="1554480"/>
            <a:ext cx="2606040" cy="1298448"/>
          </a:xfrm>
          <a:prstGeom prst="roundRect">
            <a:avLst>
              <a:gd name="adj" fmla="val 4225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06840" y="1645920"/>
            <a:ext cx="50292" cy="111556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9244584" y="170992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หยุดเครื่อง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44584" y="2029968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บันทึกเหตุ แจ้งเตือน คำนวณ MTTR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035808"/>
            <a:ext cx="2606040" cy="1298448"/>
          </a:xfrm>
          <a:prstGeom prst="roundRect">
            <a:avLst>
              <a:gd name="adj" fmla="val 4225"/>
            </a:avLst>
          </a:prstGeom>
          <a:solidFill>
            <a:srgbClr val="DCFCE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127248"/>
            <a:ext cx="50292" cy="111556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5" name="Text 23"/>
          <p:cNvSpPr/>
          <p:nvPr/>
        </p:nvSpPr>
        <p:spPr>
          <a:xfrm>
            <a:off x="877824" y="31912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คลังอะไหล่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7824" y="3511296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จอง เบิก กันของติดลบ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29000" y="3035808"/>
            <a:ext cx="2606040" cy="1298448"/>
          </a:xfrm>
          <a:prstGeom prst="roundRect">
            <a:avLst>
              <a:gd name="adj" fmla="val 4225"/>
            </a:avLst>
          </a:prstGeom>
          <a:solidFill>
            <a:srgbClr val="E0F2FE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29000" y="3127248"/>
            <a:ext cx="50292" cy="111556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9" name="Text 27"/>
          <p:cNvSpPr/>
          <p:nvPr/>
        </p:nvSpPr>
        <p:spPr>
          <a:xfrm>
            <a:off x="3666744" y="31912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รายงาน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66744" y="3511296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ส่งออก CSV ได้ทุกหน้า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3035808"/>
            <a:ext cx="2606040" cy="1298448"/>
          </a:xfrm>
          <a:prstGeom prst="roundRect">
            <a:avLst>
              <a:gd name="adj" fmla="val 4225"/>
            </a:avLst>
          </a:prstGeom>
          <a:solidFill>
            <a:srgbClr val="EDE9FE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3127248"/>
            <a:ext cx="50292" cy="111556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3" name="Text 31"/>
          <p:cNvSpPr/>
          <p:nvPr/>
        </p:nvSpPr>
        <p:spPr>
          <a:xfrm>
            <a:off x="6455664" y="31912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บันทึกการกระทำ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55664" y="3511296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ประวัติทุกครั้งที่มีการแก้ไข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006840" y="3035808"/>
            <a:ext cx="2606040" cy="1298448"/>
          </a:xfrm>
          <a:prstGeom prst="roundRect">
            <a:avLst>
              <a:gd name="adj" fmla="val 4225"/>
            </a:avLst>
          </a:prstGeom>
          <a:solidFill>
            <a:srgbClr val="0F172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006840" y="3127248"/>
            <a:ext cx="50292" cy="11155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9244584" y="31912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ข้อมูลตัวอย่าง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244584" y="3511296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โรงงาน · 3 สาย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 เครื่อง · 8 ใบงาน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 อะไหล่ · 30 รอบการผลิต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4553712"/>
            <a:ext cx="10881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" y="4645152"/>
            <a:ext cx="50292" cy="1143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1" name="Text 39"/>
          <p:cNvSpPr/>
          <p:nvPr/>
        </p:nvSpPr>
        <p:spPr>
          <a:xfrm>
            <a:off x="896112" y="4700016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สิ่งที่ระบบนี้ไม่ทำ — บอกไว้ตรง ๆ ไม่งอน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4400" y="498348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ไม่ได้อ่านสัญญาณจาก PLC จริง เวลาหยุดเครื่องยังให้คนกรอกเอง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ยังไม่ต่อกับ ERP หรือระบบสั่งซื้ออะไหล่ของโรงงาน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ไม่ได้ทำหน้าจัดการผู้ใช้ (เพิ่มผู้ใช้ต้องเขียน SQL เอง)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หน้าจอหลัก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แดชบอร์ด — เห็นภาพรวมทั้งโรงงานในหน้าเดียว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6291072"/>
            <a:ext cx="1091153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Production Control Tower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900" dirty="0"/>
          </a:p>
        </p:txBody>
      </p:sp>
      <p:pic>
        <p:nvPicPr>
          <p:cNvPr id="7" name="Image 0" descr="C:\Users\mpalg\OneDrive\เดสก์ท็อป\pic\PLC-Control-Tower\deliverables\Slides\assets\02-dashboard-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7452360" cy="41970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481328"/>
            <a:ext cx="7452360" cy="4197096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75320" y="1481328"/>
            <a:ext cx="32461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75320" y="1572768"/>
            <a:ext cx="50292" cy="1828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8"/>
          <p:cNvSpPr/>
          <p:nvPr/>
        </p:nvSpPr>
        <p:spPr>
          <a:xfrm>
            <a:off x="8531352" y="1627632"/>
            <a:ext cx="2788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OEE รวมทุกสาย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503920" y="187452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57.6%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8503920" y="25603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ของดี 47,259 ชิ้น  ·  ของเสีย 656 ชิ้น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03920" y="30632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Availability 58.4%   ·   Quality 98.6%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275320" y="3657600"/>
            <a:ext cx="3246120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75320" y="3749040"/>
            <a:ext cx="50292" cy="183794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Text 14"/>
          <p:cNvSpPr/>
          <p:nvPr/>
        </p:nvSpPr>
        <p:spPr>
          <a:xfrm>
            <a:off x="8531352" y="3803904"/>
            <a:ext cx="2788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จุดที่ระบบชี้ให้เห็น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503920" y="406908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1C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เหตุหยุดเครื่องที่ยังไม่ปิด รวม 253 นาที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อะไหล่เหลือต่ำกว่าจุดสั่งซื้อ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MTTR 284 นาที  ·  งานตามรอบทำได้ 50%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57790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ภาพหน้าจอจริงจากระบบ ผู้ใช้บทบาทผู้ดูแล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หัวใจของระบบ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OEE คำนวณอย่างไร และได้เท่าไหร่จริง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6291072"/>
            <a:ext cx="1091153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Production Control Tower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3520440" cy="1572768"/>
          </a:xfrm>
          <a:prstGeom prst="roundRect">
            <a:avLst>
              <a:gd name="adj" fmla="val 3488"/>
            </a:avLst>
          </a:prstGeom>
          <a:solidFill>
            <a:srgbClr val="E0F2FE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72768"/>
            <a:ext cx="50292" cy="138988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16276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19385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เวลาที่เครื่องเดินจริง ÷ เวลาที่วางแผนไว้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239572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58.4%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325112" y="1481328"/>
            <a:ext cx="3520440" cy="1572768"/>
          </a:xfrm>
          <a:prstGeom prst="roundRect">
            <a:avLst>
              <a:gd name="adj" fmla="val 3488"/>
            </a:avLst>
          </a:prstGeom>
          <a:solidFill>
            <a:srgbClr val="EDE9FE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25112" y="1572768"/>
            <a:ext cx="50292" cy="138988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4" name="Text 12"/>
          <p:cNvSpPr/>
          <p:nvPr/>
        </p:nvSpPr>
        <p:spPr>
          <a:xfrm>
            <a:off x="4581144" y="16276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81144" y="19385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ผลผลิตตามทฤษฎี ÷ ผลผลิตจริง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81144" y="239572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100.0%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8010144" y="1481328"/>
            <a:ext cx="3520440" cy="1572768"/>
          </a:xfrm>
          <a:prstGeom prst="roundRect">
            <a:avLst>
              <a:gd name="adj" fmla="val 3488"/>
            </a:avLst>
          </a:prstGeom>
          <a:solidFill>
            <a:srgbClr val="DCFCE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10144" y="1572768"/>
            <a:ext cx="50292" cy="138988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9" name="Text 17"/>
          <p:cNvSpPr/>
          <p:nvPr/>
        </p:nvSpPr>
        <p:spPr>
          <a:xfrm>
            <a:off x="8266176" y="16276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Quality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6176" y="19385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ของดี ÷ ของทั้งหมด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66176" y="239572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98.6%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640080" y="3218688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291840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OEE = Availability × Performance × Quality = </a:t>
            </a:r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57.6%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  ทั้งระบบ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858768"/>
          <a:ext cx="1088136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828800"/>
                <a:gridCol w="1554480"/>
                <a:gridCol w="155448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สายการผลิต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Availability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Quality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OEE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เวลาที่หยุด</a:t>
                      </a:r>
                      <a:endParaRPr lang="en-US" sz="11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LN-A สายวางลูกษา SMT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57.3%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99%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56.7%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42.7%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LN-B สายเติมวงจรและทดสอบ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74.1%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98.7%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73.1%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25.9%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LN-C สายฉีดขึ้นรูปพลาสติก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56%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98.4%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55.1%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44%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รวม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58.4%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98.6%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57.6%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41.6%</a:t>
                      </a:r>
                      <a:endParaRPr lang="en-US" sz="12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640080" y="5989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ตัวเลขทั้งหมดมาจากการรันคำสวณจริงบนชุดข้อมูลตัวอย่าง ไม่ได้เขียนขึ้นมือ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กระบวนการ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จัดการเหตุหยุดเครื่อง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6291072"/>
            <a:ext cx="1091153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Production Control Tower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900" dirty="0"/>
          </a:p>
        </p:txBody>
      </p:sp>
      <p:pic>
        <p:nvPicPr>
          <p:cNvPr id="7" name="Image 0" descr="C:\Users\mpalg\OneDrive\เดสก์ท็อป\pic\PLC-Control-Tower\deliverables\Slides\assets\08-down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6766560" cy="38039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481328"/>
            <a:ext cx="6766560" cy="3803904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35240" y="1481328"/>
            <a:ext cx="38862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35240" y="1572768"/>
            <a:ext cx="50292" cy="16459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1" name="Text 8"/>
          <p:cNvSpPr/>
          <p:nvPr/>
        </p:nvSpPr>
        <p:spPr>
          <a:xfrm>
            <a:off x="7891272" y="1627632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สถานะของเหตุหยุดเครื่อง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863840" y="1938528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B91C1C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0" y="1965960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162288" y="19568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พบเหตุ เครื่องหยุด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863840" y="2359152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D97706"/>
          </a:solidFill>
          <a:ln/>
        </p:spPr>
      </p:sp>
      <p:sp>
        <p:nvSpPr>
          <p:cNvPr id="16" name="Text 13"/>
          <p:cNvSpPr/>
          <p:nvPr/>
        </p:nvSpPr>
        <p:spPr>
          <a:xfrm>
            <a:off x="7863840" y="2386584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acknowledged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162288" y="2377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มีคนรับทราบแล้ว แต่ยังไม่กลับมาทำงาน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863840" y="2779776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15803D"/>
          </a:solidFill>
          <a:ln/>
        </p:spPr>
      </p:sp>
      <p:sp>
        <p:nvSpPr>
          <p:cNvPr id="19" name="Text 16"/>
          <p:cNvSpPr/>
          <p:nvPr/>
        </p:nvSpPr>
        <p:spPr>
          <a:xfrm>
            <a:off x="7863840" y="2807208"/>
            <a:ext cx="1207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mitigated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162288" y="27980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แก้แล้ว เครื่องกลับมาทำงาน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635240" y="3456432"/>
            <a:ext cx="38862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635240" y="3547872"/>
            <a:ext cx="50292" cy="1645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0"/>
          <p:cNvSpPr/>
          <p:nvPr/>
        </p:nvSpPr>
        <p:spPr>
          <a:xfrm>
            <a:off x="7891272" y="360273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ตัวเลขจากข้อมูลจริง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882128" y="3877056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B91C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เหตุ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ยังไม่มีใครรับทราบ   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เหตุ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รับทราบแล้ว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เหตุ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ปิดเรียบร้อย  ·  รวม 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253 นาที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882128" y="482803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MTTR เฉลี่ย 284 นาที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0080" y="54864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ระบบไม่ปิดเหตุให้อัตโนมัติ — ต้องมีคนยืนยันว่าเครื่องกลับมาทำงานจริง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กระบวนการ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อะไหล่ — กันงานค้างเพราะของขาด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6291072"/>
            <a:ext cx="1091153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Production Control Tower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</a:t>
            </a:r>
            <a:endParaRPr lang="en-US" sz="900" dirty="0"/>
          </a:p>
        </p:txBody>
      </p:sp>
      <p:pic>
        <p:nvPicPr>
          <p:cNvPr id="7" name="Image 0" descr="C:\Users\mpalg\OneDrive\เดสก์ท็อป\pic\PLC-Control-Tower\deliverables\Slides\assets\09-pa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6766560" cy="38039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481328"/>
            <a:ext cx="6766560" cy="3803904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35240" y="1481328"/>
            <a:ext cx="3886200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35240" y="1572768"/>
            <a:ext cx="50292" cy="190195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1" name="Text 8"/>
          <p:cNvSpPr/>
          <p:nvPr/>
        </p:nvSpPr>
        <p:spPr>
          <a:xfrm>
            <a:off x="7891272" y="1627632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กฎที่ระบบบังคับ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882128" y="1874520"/>
            <a:ext cx="3429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ของที่จองไว้แล้วห้ามเบิกเกิน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ห้ามเบิกจนเหลือน้อยกว่าจุดสั่งซื้อ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เบิกไม่ได้ถ้าของหมด — ต้องสั่งซื้อก่อน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ทุกครั้งที่เบิก ต้องผูกกับใบงาน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35240" y="3712464"/>
            <a:ext cx="388620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35240" y="3803904"/>
            <a:ext cx="50292" cy="13898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2"/>
          <p:cNvSpPr/>
          <p:nvPr/>
        </p:nvSpPr>
        <p:spPr>
          <a:xfrm>
            <a:off x="7891272" y="385876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สถานะคลัง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882128" y="4133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ต่ำกว่าจุดสั่งซื้อ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418320" y="41330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/ 8 รายการ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882128" y="4645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มูลค่าของคงคลัง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418320" y="464515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102,320 บาท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40080" y="54864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ใบงาน 4 ใบรอซ่อม  ·  งานตามรอบ 3 ใบ  ·  งานสอบเทียบ 1 ใบ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หน้าจอทั้งหมด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ระบบมี 12 หน้า ผ่านการทดสอบทุกหน้า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6291072"/>
            <a:ext cx="1091153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Production Control Tower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</a:t>
            </a:r>
            <a:endParaRPr lang="en-US" sz="900" dirty="0"/>
          </a:p>
        </p:txBody>
      </p:sp>
      <p:pic>
        <p:nvPicPr>
          <p:cNvPr id="7" name="Image 0" descr="C:\Users\mpalg\OneDrive\เดสก์ท็อป\pic\PLC-Control-Tower\deliverables\Slides\assets\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2615184" cy="10687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481328"/>
            <a:ext cx="2615184" cy="1634490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17068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หน้าเข้าสู่ระบบ</a:t>
            </a:r>
            <a:endParaRPr lang="en-US" sz="1000" dirty="0"/>
          </a:p>
        </p:txBody>
      </p:sp>
      <p:pic>
        <p:nvPicPr>
          <p:cNvPr id="10" name="Image 1" descr="C:\Users\mpalg\OneDrive\เดสก์ท็อป\pic\PLC-Control-Tower\deliverables\Slides\assets\04-asse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481328"/>
            <a:ext cx="2615184" cy="106870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29000" y="1481328"/>
            <a:ext cx="2615184" cy="1634490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429000" y="317068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ทะเบียนเครื่องจักร</a:t>
            </a:r>
            <a:endParaRPr lang="en-US" sz="1000" dirty="0"/>
          </a:p>
        </p:txBody>
      </p:sp>
      <p:pic>
        <p:nvPicPr>
          <p:cNvPr id="13" name="Image 2" descr="C:\Users\mpalg\OneDrive\เดสก์ท็อป\pic\PLC-Control-Tower\deliverables\Slides\assets\05-asset-det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81328"/>
            <a:ext cx="2615184" cy="106870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217920" y="1481328"/>
            <a:ext cx="2615184" cy="1634490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217920" y="317068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รายละเอียดเครื่อง</a:t>
            </a:r>
            <a:endParaRPr lang="en-US" sz="1000" dirty="0"/>
          </a:p>
        </p:txBody>
      </p:sp>
      <p:pic>
        <p:nvPicPr>
          <p:cNvPr id="16" name="Image 3" descr="C:\Users\mpalg\OneDrive\เดสก์ท็อป\pic\PLC-Control-Tower\deliverables\Slides\assets\06-work-ord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481328"/>
            <a:ext cx="2615184" cy="106870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006840" y="1481328"/>
            <a:ext cx="2615184" cy="1634490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9006840" y="317068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ใบงานบำรุง</a:t>
            </a:r>
            <a:endParaRPr lang="en-US" sz="1000" dirty="0"/>
          </a:p>
        </p:txBody>
      </p:sp>
      <p:pic>
        <p:nvPicPr>
          <p:cNvPr id="19" name="Image 4" descr="C:\Users\mpalg\OneDrive\เดสก์ท็อป\pic\PLC-Control-Tower\deliverables\Slides\assets\07-work-order-deta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364992"/>
            <a:ext cx="2615184" cy="1068705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40080" y="3364992"/>
            <a:ext cx="2615184" cy="1634490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640080" y="5054346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รายละเอียดใบงาน</a:t>
            </a:r>
            <a:endParaRPr lang="en-US" sz="1000" dirty="0"/>
          </a:p>
        </p:txBody>
      </p:sp>
      <p:pic>
        <p:nvPicPr>
          <p:cNvPr id="22" name="Image 5" descr="C:\Users\mpalg\OneDrive\เดสก์ท็อป\pic\PLC-Control-Tower\deliverables\Slides\assets\10-repor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364992"/>
            <a:ext cx="2615184" cy="1068705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3429000" y="3364992"/>
            <a:ext cx="2615184" cy="1634490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3429000" y="5054346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รายงานและส่งออก CSV</a:t>
            </a:r>
            <a:endParaRPr lang="en-US" sz="1000" dirty="0"/>
          </a:p>
        </p:txBody>
      </p:sp>
      <p:pic>
        <p:nvPicPr>
          <p:cNvPr id="25" name="Image 6" descr="C:\Users\mpalg\OneDrive\เดสก์ท็อป\pic\PLC-Control-Tower\deliverables\Slides\assets\11-activit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3364992"/>
            <a:ext cx="2615184" cy="1068705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6217920" y="3364992"/>
            <a:ext cx="2615184" cy="1634490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6217920" y="5054346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ประวัติการแก้ไข</a:t>
            </a:r>
            <a:endParaRPr lang="en-US" sz="1000" dirty="0"/>
          </a:p>
        </p:txBody>
      </p:sp>
      <p:pic>
        <p:nvPicPr>
          <p:cNvPr id="28" name="Image 7" descr="C:\Users\mpalg\OneDrive\เดสก์ท็อป\pic\PLC-Control-Tower\deliverables\Slides\assets\13-work-orders-plann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840" y="3364992"/>
            <a:ext cx="2615184" cy="1068705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006840" y="3364992"/>
            <a:ext cx="2615184" cy="1634490"/>
          </a:xfrm>
          <a:prstGeom prst="rect">
            <a:avLst/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9006840" y="5054346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มุมมองผู้วางแผน</a:t>
            </a:r>
            <a:endParaRPr lang="en-US" sz="1000" dirty="0"/>
          </a:p>
        </p:txBody>
      </p:sp>
      <p:sp>
        <p:nvSpPr>
          <p:cNvPr id="31" name="Text 21"/>
          <p:cNvSpPr/>
          <p:nvPr/>
        </p:nvSpPr>
        <p:spPr>
          <a:xfrm>
            <a:off x="640080" y="534924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มีอีก: แดชบอร์ดผู้ดูแล · แดชบอร์ดวิศวกร · แดชบอร์ดผู้วางแผน · โหมดมืด · มุมมองมือถือ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การออกแบบ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ข้อมูลเดินทางอย่างไร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6291072"/>
            <a:ext cx="1091153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Production Control Tower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6949440" cy="868680"/>
          </a:xfrm>
          <a:prstGeom prst="roundRect">
            <a:avLst>
              <a:gd name="adj" fmla="val 6316"/>
            </a:avLst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18488"/>
            <a:ext cx="54864" cy="64922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163677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ชั้นแสดงผล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1947672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React + Next.js  ·  12 หน้า  ·  Tailwind + Recharts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77640" y="2395728"/>
            <a:ext cx="274320" cy="128016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532888"/>
            <a:ext cx="6949440" cy="868680"/>
          </a:xfrm>
          <a:prstGeom prst="roundRect">
            <a:avLst>
              <a:gd name="adj" fmla="val 6316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642616"/>
            <a:ext cx="54864" cy="64922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26609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ชั้นตรรกะ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2971800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สูตร OEE · กติกาเปลี่ยนสถานะ · ตารางสิทธิ์ตามบทบาท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77640" y="3419856"/>
            <a:ext cx="274320" cy="128016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557016"/>
            <a:ext cx="6949440" cy="868680"/>
          </a:xfrm>
          <a:prstGeom prst="roundRect">
            <a:avLst>
              <a:gd name="adj" fmla="val 6316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666744"/>
            <a:ext cx="54864" cy="64922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36850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ชั้นข้อมูล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" y="399592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Supabase (PostgreSQL)  ·  11 ตาราง  ·  25 สิทธิ์ระดับแถว  ·  15 trigger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18120" y="1508760"/>
            <a:ext cx="37033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818120" y="1600200"/>
            <a:ext cx="50292" cy="1645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8074152" y="1655064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ทำงานได้แม้ไม่มีเซิร์ฟเวอร์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65008" y="1901952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ถ้ายังไม่ได้ต่อฐานข้อมูล ระบบจะใช้ชุดข้อมูลตัวอย่างในเครื่อง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เหมาะกับการสาธิตและทดสอบหน้าจอโดยไม่ต้องตั้งค่าอะไร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18120" y="3483864"/>
            <a:ext cx="3703320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18120" y="3575304"/>
            <a:ext cx="50292" cy="20299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8074152" y="3630168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การเขียนข้อมูล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65008" y="3877056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หน้าจออัปเดตทันที ไม่ต้องรอเครือข่าย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ถ้าฐานข้อมูลปฏิเสธ ระบบย้อนกลับหน้าจอให้ตรงเดิม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บันทึกรหัสอุปกรณ์เป็นรหัสธุรกิจ ไม่ใช่ UUID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ความปลอดภัย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สิทธิ์บังคับที่ฐานข้อมูล ไม่ใช่แค่ซ่อนปุ่ม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6291072"/>
            <a:ext cx="1091153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Production Control Tower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ตัวอย่างที่ทดสอบแล้ว — ผู้ใช้ที่พิสูจน์ตัวตนแล้วแต่ส่งคำขอที่ไม่มีสิทธิ์ ฐานข้อมูลปฏิเสธเอง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0299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ผู้ดูแล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237744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6112" y="274320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07008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ดูและแก้ข้อมูลทุกอย่าง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3255264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07008" y="325526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จัดการผู้ใช้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" y="376732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07008" y="37673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อ่านประวัติการแก้ไขทั้งหมด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6112" y="4279392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07008" y="42793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แก้หรือลบประวัติ — ไม่ได้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25112" y="187452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1144" y="20299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วิศวกร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81144" y="237744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81144" y="274320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แก้สถานะเครื่องจักร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81144" y="3255264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25526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เปิดและปิดใบงานซ่อม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81144" y="376732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7673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บันทึกเหตุหยุดเครื่อง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81144" y="4279392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✕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42793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เพิ่มหรือแก้ข้อมูลอะไหล่ — ไม่ได้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10144" y="187452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66176" y="20299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69A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ผู้วางแผน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266176" y="237744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66176" y="274320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77072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ดูข้อมูลได้ทั้งหมด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66176" y="3255264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577072" y="325526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วางแผนงานตามรอบ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66176" y="376732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✕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577072" y="37673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เปิดงานซ่อมฉุกเฉิน — ไม่ได้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66176" y="4279392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✕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577072" y="42793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แก้เครื่องจักร — ไม่ได้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525780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41324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เจาะลึก: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ผู้ใช้ที่ยังไม่ล็อกอินจะได้สิทธิ์เท่าผู้วางแผน ไม่ใช่สิทธิ์สูงสุด — ถ้าตั้งค่าผิดจะเป็นการปิดทางเข้า ไม่ใช่เปิดกว้าง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สิ่งที่พบระหว่างทำ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บั๊กที่ 1 — โค้ดที่อ่านผ่าน แต่รันไม่ผ่าน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6291072"/>
            <a:ext cx="1091153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Production Control Tower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ทั้งโปรเจกต์เขียนเสร็จ ทุกเทสต์ผ่าน แต่พอเอา SQL ไปรันกับฐานข้อมูลจริงกลับพังตั้งแต่บรรทัดแรก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1E293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965960"/>
            <a:ext cx="50292" cy="21031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020824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ก่อนแก้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233172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ฟังก์ชันอยู่ตรงนี้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function authz.current_role()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app_role as $$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role from public.app_users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user_id = auth.uid();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$$ language sql;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แต่ตาราง app_users ถูกสร้างทีหลัง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187452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1E293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965960"/>
            <a:ext cx="50292" cy="21031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2020824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หลังแก้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28232" y="233172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สร้างตารางก่อน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public.app_users (...);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แล้วค่อยสร้างฟังก์ชัน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function authz.current_role()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app_role as $$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role from public.app_users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user_id = auth.uid();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$$ language sql;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8813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434840"/>
            <a:ext cx="50292" cy="1417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489704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บอกได้ตรง ๆ ว่าเป็นบั๊กอะไร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47548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PostgreSQL ตรวจการอ้างถึงตารางข้างในฟังก์ชันตอนสร้าง ไม่ใช่ตอนเรียกใช้ การอ่านโค้ดด้วยตาจะเห็นว่า “เฮ้ย อ้างถึงตารางที่ยังไม่มี” แต่ถ้าไม่เคยรันจริงก็จะไม่มีวันรู้ว่ามันพัง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6112" y="5440680"/>
            <a:ext cx="10332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วิธีแก้ที่ถาวร: ให้เขียน schema ให้รันซ้ำได้ และมีชุดทดสอบที่รัน SQL จริงทุกครั้ง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สิ่งที่พบระหว่างทำ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บั๊กที่ 2 และ 3 — จุดที่อ่านโค้ดไม่ออก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6291072"/>
            <a:ext cx="1091153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Production Control Tower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534924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72768"/>
            <a:ext cx="50292" cy="2057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1627632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บั๊กที่ 2 — ตัวพิมพ์ใหญ่เล็กไม่ตรงกัน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19202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trigger ได้ค่า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(ตัวพิมพ์ใหญ่)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แต่ชนิดข้อมูล enum เก็บเป็น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(ตัวพิมพ์เล็ก)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" y="2743200"/>
            <a:ext cx="4846320" cy="384048"/>
          </a:xfrm>
          <a:prstGeom prst="roundRect">
            <a:avLst>
              <a:gd name="adj" fmla="val 9524"/>
            </a:avLst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2816352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ก่อน: 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tg_op::trail_action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       แก้: 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lower(tg_op)::trail_action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481328"/>
            <a:ext cx="534924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572768"/>
            <a:ext cx="50292" cy="20574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6428232" y="1627632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บั๊กที่ 3 — ข้อมูลกับกฎทางธุรกิจขัดกันเอง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28232" y="19202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กฎเดิม: ถ้ายังไม่ปิดเหตุ ต้องมีเวลาสิ้นสุด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แต่ข้อมูลจริงมีเหตุที่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“รับทราบแล้ว เครื่องยังไม่กลับมา”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ซึ่งยังไม่จบจริง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28232" y="2743200"/>
            <a:ext cx="4846320" cy="777240"/>
          </a:xfrm>
          <a:prstGeom prst="roundRect">
            <a:avLst>
              <a:gd name="adj" fmla="val 4706"/>
            </a:avLst>
          </a:prstGeom>
          <a:solidFill>
            <a:srgbClr val="DCFCE7"/>
          </a:solidFill>
          <a:ln/>
        </p:spPr>
      </p:sp>
      <p:sp>
        <p:nvSpPr>
          <p:cNvPr id="18" name="Text 16"/>
          <p:cNvSpPr/>
          <p:nvPr/>
        </p:nvSpPr>
        <p:spPr>
          <a:xfrm>
            <a:off x="6556248" y="283464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แก้โดยบังคับเวลาสิ้นสุดเฉพาะสถานะที่เครื่องกลับมาทำงานแล้วเท่านั้น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913632"/>
            <a:ext cx="10881360" cy="2011680"/>
          </a:xfrm>
          <a:prstGeom prst="roundRect">
            <a:avLst>
              <a:gd name="adj" fmla="val 2727"/>
            </a:avLst>
          </a:prstGeom>
          <a:solidFill>
            <a:srgbClr val="0F172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005072"/>
            <a:ext cx="50292" cy="1828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059936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บั๊กที่ 3 สำคัญที่สุด เพราะมันไม่ใช่บั๊กทางเทคนิค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" y="43434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ตัวไหนผิด — SQL หรือข้อมูล — ขึ้นอยู่กับความหมายทางธุรกิจ ไม่ใช่ไวยากรณ์ ถ้าผมเดาเองแล้วแก้ผิดฝั่ง ระบบจะทำงานผิดแบบเงียบ ๆ ไม่มี error ให้เห็น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6112" y="49834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ผลที่ได้: ตอนนี้มีการทดสอบอัตโนมัติที่ยกคอนเทนเนอร์ฐานข้อมูลจริงขึ้นมารันทุกครั้ง บั๊กแบบนี้จะไม่หลุดออกไปได้อีก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การตรวจสอบ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ทดสอบอะไรไปบ้าง และผ่านหมดหรือยัง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6291072"/>
            <a:ext cx="1091153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Production Control Tower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45920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673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ตรวจชนิดข้อมูล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0" y="16642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ผ่าน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69164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 error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1536192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645920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75704" y="1673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ตรวจกฎการเขียนโค้ด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55480" y="16642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ผ่าน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0" y="169164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 warning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194560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304288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ทดสอบสูตรและกติกา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0" y="23225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37 / 37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235000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หน่วยทดสอบ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2200" y="2194560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304288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75704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สร้างไฟล์จริง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55480" y="23225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ผ่าน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0" y="235000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12 หน้า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" y="2852928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2962656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43584" y="2990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รัน SQL กับฐานข้อมูลจริง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23360" y="29809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ผ่าน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83480" y="300837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PostgreSQL 16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72200" y="2852928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2962656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75704" y="2990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ทดสอบสิทธิ์ระดับแถว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555480" y="29809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13 / 13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515600" y="300837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RLS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3511296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3621024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—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43584" y="36484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รันกับ Supabase จริง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023360" y="36393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ยังไม่ได้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83480" y="3666744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รอการเชื่อมต่อ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72200" y="3511296"/>
            <a:ext cx="5349240" cy="548640"/>
          </a:xfrm>
          <a:prstGeom prst="roundRect">
            <a:avLst>
              <a:gd name="adj" fmla="val 8333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3621024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—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775704" y="36484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ทดสอบผู้ใช้หลายคนพร้อมกัน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555480" y="36393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ยังไม่ได้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515600" y="3666744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ต้องมีคนจริง 2 คน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080" y="4343400"/>
            <a:ext cx="10881360" cy="1554480"/>
          </a:xfrm>
          <a:prstGeom prst="roundRect">
            <a:avLst>
              <a:gd name="adj" fmla="val 3529"/>
            </a:avLst>
          </a:prstGeom>
          <a:solidFill>
            <a:srgbClr val="0F172A"/>
          </a:solidFill>
          <a:ln/>
        </p:spPr>
      </p:sp>
      <p:sp>
        <p:nvSpPr>
          <p:cNvPr id="48" name="Text 46"/>
          <p:cNvSpPr/>
          <p:nvPr/>
        </p:nvSpPr>
        <p:spPr>
          <a:xfrm>
            <a:off x="896112" y="45262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คำสั่งเดียวที่ยืนยันได้ทั้งหมด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96112" y="48463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db:test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896112" y="528523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ยกฐานข้อมูลจริงขึ้นมาใหม่ทุกครั้ง ใส่ข้อมูลตัวอย่าง แล้วทดสอบสิทธิ์ทีละบทบาท ใช้เวลาไม่ถึงหนึ่งนาที ปิดท้ายด้วยการลบคอนเทนเนอร์ทิ้ง ไม่มีอะไรค้างในเครื่อง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ความซื่อสัตย์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สิ่งที่ยังทำไม่ได้ และจะทำต่ออย่างไร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6291072"/>
            <a:ext cx="10911535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Production Control Tower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53492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627632"/>
            <a:ext cx="50292" cy="120700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16642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ยังไม่ได้ต่อกับ Supabase จริง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195681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ทดสอบกับฐานข้อมูลจริงแล้ว แต่ยังใช้ตัวจำลองแทนส่วนที่ Supabase เพิ่มเข้ามา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560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</a:t>
            </a:r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ต่อโปรเจกต์จริงแล้วรันซ้ำ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536192"/>
            <a:ext cx="53492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627632"/>
            <a:ext cx="50292" cy="1207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6642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ยังไม่ได้ทดสอบหลายคนพร้อมกัน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28232" y="195681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ระบบเขียนแบบเร็วที่สุดแล้วย้อนกลับเมื่อพัง ถ้าสองคนแก้ข้อมูลเดียวกัน คนหลังจะทับคนแรก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28232" y="2560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</a:t>
            </a:r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ต้องทดสอบกับผู้ใช้จริง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072384"/>
            <a:ext cx="53492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163824"/>
            <a:ext cx="50292" cy="120700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3200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เวลายังกรอกเอง ไม่ได้มาจาก PLC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6112" y="349300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ยังไม่ได้ต่อสัญญาณจริงผ่าน Modbus หรือ OPC UA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6112" y="409651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</a:t>
            </a:r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ต่อกับ PLC เมื่อมีอุปกรณ์จริง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3072384"/>
            <a:ext cx="53492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3163824"/>
            <a:ext cx="50292" cy="120700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4" name="Text 22"/>
          <p:cNvSpPr/>
          <p:nvPr/>
        </p:nvSpPr>
        <p:spPr>
          <a:xfrm>
            <a:off x="6428232" y="3200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เขียนข้อมูลเป็นรายคำสั่ง ไม่มีธุรกรรม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28232" y="349300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ถ้าฐานข้อมูลปฏิเสธบางแถว ของที่เขียนไปแล้วจะไม่ถูกย้อนกลับ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28232" y="409651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</a:t>
            </a:r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ใช้ฟังก์ชันที่ห่อธุรกรรมเดียว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608576"/>
            <a:ext cx="53492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4700016"/>
            <a:ext cx="50292" cy="120700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9" name="Text 27"/>
          <p:cNvSpPr/>
          <p:nvPr/>
        </p:nvSpPr>
        <p:spPr>
          <a:xfrm>
            <a:off x="896112" y="47365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รหัสผ่านตัวอย่างเก็บเป็นข้อความธรรมดา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96112" y="502920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เหมาะกับการสาธิตเท่านั้น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96112" y="563270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</a:t>
            </a:r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ต้องลบตารางนี้ก่อนใช้จริง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72200" y="4608576"/>
            <a:ext cx="53492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94A3B8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4700016"/>
            <a:ext cx="50292" cy="1207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6428232" y="47365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ยังมีช่องโหว่ในไลบรารีที่ Next.js ดึงมา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28232" y="502920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อยู่ในขั้นตอน build ไม่กระทบผู้ใช้ปลายทาง แต่ควรอัปเกรดเมื่อมีเวลา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28232" y="563270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 </a:t>
            </a:r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อัปเกรด Next.js เป็นเวอร์ชันใหม่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64008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6012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ระบบทำงานได้จริง และตอนนี้ผมรู้แน่ชัดว่าอะไรยังไม่น่าเชื่อถือ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0120" y="2057400"/>
            <a:ext cx="480060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7864" y="21762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12 หน้า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97864" y="24871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OEE เครื่องจักร ใบงาน หยุดเครื่อง อะไหล่ รายงาน และประวัติการแก้ไข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0" y="2057400"/>
            <a:ext cx="480060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72784" y="21762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บทบาท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72784" y="24871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สิทธิ์บังคับที่ฐานข้อมูลจริง ไม่ใช่แค่ซ่อนปุ่มในหน้าเว็บ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60120" y="3081528"/>
            <a:ext cx="480060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7864" y="32004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50 เคสทดสอบ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97864" y="351129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ทดสอบหน่วย 37 เคส และทดสอบสิทธิ์ 13 เคสกับฐานข้อมูลจริง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3081528"/>
            <a:ext cx="480060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32004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บั๊กที่แก้แล้ว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72784" y="351129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เจอเพราะรัน SQL จริง ไม่ใช่เพราะอ่านโค้ด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0120" y="4224528"/>
            <a:ext cx="9875520" cy="566928"/>
          </a:xfrm>
          <a:prstGeom prst="roundRect">
            <a:avLst>
              <a:gd name="adj" fmla="val 8065"/>
            </a:avLst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352544"/>
            <a:ext cx="9418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ขั้นต่อไปที่สำคัญที่สุด: เชื่อมฐานข้อมูลจริง แล้วรันชุดทดสอบเดิมซ้ำอีกครั้ง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5120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ขอบคุณที่รับฟังครับ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0120" y="5623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ถามได้ทุกข้อ</a:t>
            </a:r>
            <a:endParaRPr lang="en-US" sz="1200" dirty="0"/>
          </a:p>
        </p:txBody>
      </p:sp>
      <p:pic>
        <p:nvPicPr>
          <p:cNvPr id="21" name="Image 0" descr="C:\Users\mpalg\OneDrive\เดสก์ท็อป\pic\PLC-Control-Tower\deliverables\Slides\assets\14-dashboard-dark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7086600" y="2057400"/>
            <a:ext cx="3749040" cy="2112264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086600" y="2057400"/>
            <a:ext cx="3749040" cy="2112264"/>
          </a:xfrm>
          <a:prstGeom prst="rect">
            <a:avLst/>
          </a:prstGeom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86600" y="42245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โหมดมืด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Production Control Tower</dc:title>
  <dc:subject>PptxGenJS Presentation</dc:subject>
  <dc:creator>Production Control Tower</dc:creator>
  <cp:lastModifiedBy>Production Control Tower</cp:lastModifiedBy>
  <cp:revision>1</cp:revision>
  <dcterms:created xsi:type="dcterms:W3CDTF">2026-09-30T06:44:04Z</dcterms:created>
  <dcterms:modified xsi:type="dcterms:W3CDTF">2026-09-30T06:44:04Z</dcterms:modified>
</cp:coreProperties>
</file>